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4" d="100"/>
          <a:sy n="154" d="100"/>
        </p:scale>
        <p:origin x="888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86951e95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86951e95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6951e95b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6951e95b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6951e95b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6951e95b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Homeostatic regulation closes through two coupled loops: a short local loop, in which each neuron adjusts its thresholds and incoming weights, and a longer embodied loop, in which neural activity changes behavior, behavior changes future sensory input, and that input feeds back onto neural activity.</a:t>
            </a:r>
            <a:endParaRPr/>
          </a:p>
          <a:p>
            <a:pPr marL="0" marR="381000" lvl="0" indent="0" algn="l" rtl="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Both can return activity toward its viable regime: one by changing the neuron, the other by changing the perturbations acting on it.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86951e95b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86951e95b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Homeostatic regulation closes through two coupled loops: a short local loop, in which each neuron adjusts its thresholds and incoming weights, and a longer embodied loop, in which neural activity changes behavior, behavior changes future sensory input, and that input feeds back onto neural activity.</a:t>
            </a:r>
            <a:endParaRPr/>
          </a:p>
          <a:p>
            <a:pPr marL="0" marR="381000" lvl="0" indent="0" algn="l" rtl="0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Both can return activity toward its viable regime: one by changing the neuron, the other by changing the perturbations acting on it.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86951e95b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f86951e95b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86951e95b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86951e95b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808250" y="744575"/>
            <a:ext cx="7527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224925"/>
            <a:ext cx="8520600" cy="6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970134"/>
            <a:ext cx="8520600" cy="3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Char char="●"/>
              <a:defRPr sz="18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●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○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Helvetica Neue"/>
              <a:buChar char="■"/>
              <a:defRPr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08250" y="744575"/>
            <a:ext cx="7527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1488"/>
            <a:ext cx="3682700" cy="1974175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3700" y="434288"/>
            <a:ext cx="4578601" cy="3334703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2" name="Google Shape;6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675" y="2095663"/>
            <a:ext cx="2641417" cy="2419351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3" name="Google Shape;63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55254" y="434300"/>
            <a:ext cx="3142093" cy="24193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4" name="Google Shape;64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45375" y="1009382"/>
            <a:ext cx="3142100" cy="3505632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65" name="Google Shape;65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57625" y="2571750"/>
            <a:ext cx="4160648" cy="251654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6" name="Google Shape;66;p14"/>
          <p:cNvSpPr/>
          <p:nvPr/>
        </p:nvSpPr>
        <p:spPr>
          <a:xfrm rot="-899994">
            <a:off x="1747946" y="671653"/>
            <a:ext cx="5648127" cy="3592733"/>
          </a:xfrm>
          <a:prstGeom prst="irregularSeal1">
            <a:avLst/>
          </a:prstGeom>
          <a:solidFill>
            <a:srgbClr val="FF99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 b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can local units optimize a global loss function?</a:t>
            </a:r>
            <a:endParaRPr sz="1500" b="1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224925"/>
            <a:ext cx="8520600" cy="6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 learning needs a new first principle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970124"/>
            <a:ext cx="8520600" cy="38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local learning asks how closely a local rule can approximate the gradient of a global loss function.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with that framing, backpropagation should always win.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 intelligent behavior arise from mechanisms that never have access to a global task objective?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One candidate primitive is homeostasis: many local components each trying to keep themselves viable.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6562473" y="1987683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behavior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400813" y="3339908"/>
            <a:ext cx="18366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agent-environment relationship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815513" y="3339908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sensory input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855938" y="1979183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thresholds, weights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1" name="Google Shape;81;p16"/>
          <p:cNvCxnSpPr>
            <a:stCxn id="82" idx="3"/>
            <a:endCxn id="77" idx="1"/>
          </p:cNvCxnSpPr>
          <p:nvPr/>
        </p:nvCxnSpPr>
        <p:spPr>
          <a:xfrm>
            <a:off x="5328723" y="2289333"/>
            <a:ext cx="1233600" cy="6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" name="Google Shape;83;p16"/>
          <p:cNvCxnSpPr>
            <a:stCxn id="77" idx="2"/>
            <a:endCxn id="78" idx="0"/>
          </p:cNvCxnSpPr>
          <p:nvPr/>
        </p:nvCxnSpPr>
        <p:spPr>
          <a:xfrm rot="-5400000" flipH="1">
            <a:off x="6944973" y="2965083"/>
            <a:ext cx="748800" cy="6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4" name="Google Shape;84;p16"/>
          <p:cNvCxnSpPr>
            <a:stCxn id="78" idx="1"/>
            <a:endCxn id="79" idx="3"/>
          </p:cNvCxnSpPr>
          <p:nvPr/>
        </p:nvCxnSpPr>
        <p:spPr>
          <a:xfrm flipH="1">
            <a:off x="5328613" y="3641558"/>
            <a:ext cx="1072200" cy="600"/>
          </a:xfrm>
          <a:prstGeom prst="curved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" name="Google Shape;85;p16"/>
          <p:cNvCxnSpPr>
            <a:stCxn id="79" idx="0"/>
            <a:endCxn id="82" idx="2"/>
          </p:cNvCxnSpPr>
          <p:nvPr/>
        </p:nvCxnSpPr>
        <p:spPr>
          <a:xfrm rot="-5400000">
            <a:off x="4198013" y="2965208"/>
            <a:ext cx="748800" cy="6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6" name="Google Shape;86;p16"/>
          <p:cNvCxnSpPr>
            <a:stCxn id="80" idx="3"/>
            <a:endCxn id="82" idx="1"/>
          </p:cNvCxnSpPr>
          <p:nvPr/>
        </p:nvCxnSpPr>
        <p:spPr>
          <a:xfrm>
            <a:off x="2369138" y="2280833"/>
            <a:ext cx="1446300" cy="84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7" name="Google Shape;87;p16"/>
          <p:cNvSpPr/>
          <p:nvPr/>
        </p:nvSpPr>
        <p:spPr>
          <a:xfrm>
            <a:off x="3815823" y="669475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homeostatic error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88" name="Google Shape;88;p16"/>
          <p:cNvCxnSpPr>
            <a:stCxn id="82" idx="0"/>
            <a:endCxn id="87" idx="2"/>
          </p:cNvCxnSpPr>
          <p:nvPr/>
        </p:nvCxnSpPr>
        <p:spPr>
          <a:xfrm rot="-5400000">
            <a:off x="4214973" y="1629933"/>
            <a:ext cx="714900" cy="600"/>
          </a:xfrm>
          <a:prstGeom prst="curved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6"/>
          <p:cNvCxnSpPr>
            <a:stCxn id="87" idx="1"/>
            <a:endCxn id="80" idx="0"/>
          </p:cNvCxnSpPr>
          <p:nvPr/>
        </p:nvCxnSpPr>
        <p:spPr>
          <a:xfrm flipH="1">
            <a:off x="1612623" y="971125"/>
            <a:ext cx="2203200" cy="1008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0" name="Google Shape;90;p16"/>
          <p:cNvSpPr txBox="1"/>
          <p:nvPr/>
        </p:nvSpPr>
        <p:spPr>
          <a:xfrm>
            <a:off x="5461088" y="2289325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5324538" y="3641550"/>
            <a:ext cx="1080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 future 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7319063" y="2795338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572713" y="2814600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perturbs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572126" y="1460125"/>
            <a:ext cx="1024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2369135" y="1215663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2372888" y="2275000"/>
            <a:ext cx="1446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shapes future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7" name="Google Shape;97;p16"/>
          <p:cNvPicPr preferRelativeResize="0"/>
          <p:nvPr/>
        </p:nvPicPr>
        <p:blipFill rotWithShape="1">
          <a:blip r:embed="rId3">
            <a:alphaModFix/>
          </a:blip>
          <a:srcRect l="17510" t="18396" r="14831" b="24966"/>
          <a:stretch/>
        </p:blipFill>
        <p:spPr>
          <a:xfrm>
            <a:off x="7093712" y="1408525"/>
            <a:ext cx="620824" cy="5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6"/>
          <p:cNvPicPr preferRelativeResize="0"/>
          <p:nvPr/>
        </p:nvPicPr>
        <p:blipFill rotWithShape="1">
          <a:blip r:embed="rId4">
            <a:alphaModFix/>
          </a:blip>
          <a:srcRect t="25065" b="26835"/>
          <a:stretch/>
        </p:blipFill>
        <p:spPr>
          <a:xfrm>
            <a:off x="6779130" y="4002525"/>
            <a:ext cx="1080450" cy="5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/>
          <p:cNvPicPr preferRelativeResize="0"/>
          <p:nvPr/>
        </p:nvPicPr>
        <p:blipFill rotWithShape="1">
          <a:blip r:embed="rId5">
            <a:alphaModFix/>
          </a:blip>
          <a:srcRect l="11735" t="20466" r="11819" b="26252"/>
          <a:stretch/>
        </p:blipFill>
        <p:spPr>
          <a:xfrm>
            <a:off x="3462777" y="1438704"/>
            <a:ext cx="865627" cy="60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6"/>
          <p:cNvPicPr preferRelativeResize="0"/>
          <p:nvPr/>
        </p:nvPicPr>
        <p:blipFill rotWithShape="1">
          <a:blip r:embed="rId6">
            <a:alphaModFix/>
          </a:blip>
          <a:srcRect l="9998" t="23716" r="10014" b="28633"/>
          <a:stretch/>
        </p:blipFill>
        <p:spPr>
          <a:xfrm>
            <a:off x="4087612" y="57151"/>
            <a:ext cx="969000" cy="57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6"/>
          <p:cNvPicPr preferRelativeResize="0"/>
          <p:nvPr/>
        </p:nvPicPr>
        <p:blipFill rotWithShape="1">
          <a:blip r:embed="rId7">
            <a:alphaModFix/>
          </a:blip>
          <a:srcRect l="6368" t="15175" r="6879" b="15597"/>
          <a:stretch/>
        </p:blipFill>
        <p:spPr>
          <a:xfrm>
            <a:off x="1234502" y="2629525"/>
            <a:ext cx="756071" cy="60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8">
            <a:alphaModFix/>
          </a:blip>
          <a:srcRect t="21087" b="27420"/>
          <a:stretch/>
        </p:blipFill>
        <p:spPr>
          <a:xfrm>
            <a:off x="4119450" y="3978098"/>
            <a:ext cx="905924" cy="466501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/>
          <p:nvPr/>
        </p:nvSpPr>
        <p:spPr>
          <a:xfrm>
            <a:off x="3815523" y="1987683"/>
            <a:ext cx="1513200" cy="603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neural activity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179525" y="4653575"/>
            <a:ext cx="878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Behaviors that produce more tolerable sensory input become dynamically stabilized.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/>
          <p:nvPr/>
        </p:nvSpPr>
        <p:spPr>
          <a:xfrm>
            <a:off x="6562473" y="1987683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behavior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400813" y="3339908"/>
            <a:ext cx="18366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agent-environment relationship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3815513" y="3339908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sensory input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55938" y="1979183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thresholds, weights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2" name="Google Shape;112;p17"/>
          <p:cNvCxnSpPr>
            <a:stCxn id="113" idx="3"/>
            <a:endCxn id="108" idx="1"/>
          </p:cNvCxnSpPr>
          <p:nvPr/>
        </p:nvCxnSpPr>
        <p:spPr>
          <a:xfrm>
            <a:off x="5328723" y="2289333"/>
            <a:ext cx="1233600" cy="600"/>
          </a:xfrm>
          <a:prstGeom prst="curvedConnector3">
            <a:avLst>
              <a:gd name="adj1" fmla="val 49994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7"/>
          <p:cNvCxnSpPr>
            <a:stCxn id="108" idx="2"/>
            <a:endCxn id="109" idx="0"/>
          </p:cNvCxnSpPr>
          <p:nvPr/>
        </p:nvCxnSpPr>
        <p:spPr>
          <a:xfrm rot="-5400000" flipH="1">
            <a:off x="6944973" y="2965083"/>
            <a:ext cx="748800" cy="6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7"/>
          <p:cNvCxnSpPr>
            <a:stCxn id="109" idx="1"/>
            <a:endCxn id="110" idx="3"/>
          </p:cNvCxnSpPr>
          <p:nvPr/>
        </p:nvCxnSpPr>
        <p:spPr>
          <a:xfrm flipH="1">
            <a:off x="5328613" y="3641558"/>
            <a:ext cx="1072200" cy="600"/>
          </a:xfrm>
          <a:prstGeom prst="curvedConnector3">
            <a:avLst>
              <a:gd name="adj1" fmla="val 49995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6" name="Google Shape;116;p17"/>
          <p:cNvCxnSpPr>
            <a:stCxn id="110" idx="0"/>
            <a:endCxn id="113" idx="2"/>
          </p:cNvCxnSpPr>
          <p:nvPr/>
        </p:nvCxnSpPr>
        <p:spPr>
          <a:xfrm rot="-5400000">
            <a:off x="4198013" y="2965208"/>
            <a:ext cx="748800" cy="600"/>
          </a:xfrm>
          <a:prstGeom prst="curvedConnector3">
            <a:avLst>
              <a:gd name="adj1" fmla="val 50008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7"/>
          <p:cNvCxnSpPr>
            <a:stCxn id="111" idx="3"/>
            <a:endCxn id="113" idx="1"/>
          </p:cNvCxnSpPr>
          <p:nvPr/>
        </p:nvCxnSpPr>
        <p:spPr>
          <a:xfrm>
            <a:off x="2369138" y="2280833"/>
            <a:ext cx="1446300" cy="8400"/>
          </a:xfrm>
          <a:prstGeom prst="curvedConnector3">
            <a:avLst>
              <a:gd name="adj1" fmla="val 50003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8" name="Google Shape;118;p17"/>
          <p:cNvSpPr/>
          <p:nvPr/>
        </p:nvSpPr>
        <p:spPr>
          <a:xfrm>
            <a:off x="3815823" y="669475"/>
            <a:ext cx="1513200" cy="603300"/>
          </a:xfrm>
          <a:prstGeom prst="roundRect">
            <a:avLst>
              <a:gd name="adj" fmla="val 16667"/>
            </a:avLst>
          </a:prstGeom>
          <a:solidFill>
            <a:srgbClr val="C9DAF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homeostatic error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9" name="Google Shape;119;p17"/>
          <p:cNvCxnSpPr>
            <a:stCxn id="113" idx="0"/>
            <a:endCxn id="118" idx="2"/>
          </p:cNvCxnSpPr>
          <p:nvPr/>
        </p:nvCxnSpPr>
        <p:spPr>
          <a:xfrm rot="-5400000">
            <a:off x="4214973" y="1629933"/>
            <a:ext cx="714900" cy="600"/>
          </a:xfrm>
          <a:prstGeom prst="curvedConnector3">
            <a:avLst>
              <a:gd name="adj1" fmla="val 50001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7"/>
          <p:cNvCxnSpPr>
            <a:stCxn id="118" idx="1"/>
            <a:endCxn id="111" idx="0"/>
          </p:cNvCxnSpPr>
          <p:nvPr/>
        </p:nvCxnSpPr>
        <p:spPr>
          <a:xfrm flipH="1">
            <a:off x="1612623" y="971125"/>
            <a:ext cx="2203200" cy="1008000"/>
          </a:xfrm>
          <a:prstGeom prst="curved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1" name="Google Shape;121;p17"/>
          <p:cNvSpPr txBox="1"/>
          <p:nvPr/>
        </p:nvSpPr>
        <p:spPr>
          <a:xfrm>
            <a:off x="5461088" y="2289325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drives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324538" y="3641550"/>
            <a:ext cx="10806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 future 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7"/>
          <p:cNvSpPr txBox="1"/>
          <p:nvPr/>
        </p:nvSpPr>
        <p:spPr>
          <a:xfrm>
            <a:off x="7319063" y="2795338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changes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4572713" y="2814600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perturbs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572126" y="1460125"/>
            <a:ext cx="10245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determines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2369135" y="1215663"/>
            <a:ext cx="9690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updates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17"/>
          <p:cNvSpPr txBox="1"/>
          <p:nvPr/>
        </p:nvSpPr>
        <p:spPr>
          <a:xfrm>
            <a:off x="2372888" y="2275000"/>
            <a:ext cx="1446300" cy="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shapes future</a:t>
            </a:r>
            <a:endParaRPr sz="12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 rotWithShape="1">
          <a:blip r:embed="rId3">
            <a:alphaModFix/>
          </a:blip>
          <a:srcRect l="17510" t="18396" r="14831" b="24966"/>
          <a:stretch/>
        </p:blipFill>
        <p:spPr>
          <a:xfrm>
            <a:off x="7093712" y="1408525"/>
            <a:ext cx="620824" cy="5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7"/>
          <p:cNvPicPr preferRelativeResize="0"/>
          <p:nvPr/>
        </p:nvPicPr>
        <p:blipFill rotWithShape="1">
          <a:blip r:embed="rId4">
            <a:alphaModFix/>
          </a:blip>
          <a:srcRect t="25065" b="26835"/>
          <a:stretch/>
        </p:blipFill>
        <p:spPr>
          <a:xfrm>
            <a:off x="6779130" y="4002525"/>
            <a:ext cx="1080450" cy="51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/>
          <p:cNvPicPr preferRelativeResize="0"/>
          <p:nvPr/>
        </p:nvPicPr>
        <p:blipFill rotWithShape="1">
          <a:blip r:embed="rId5">
            <a:alphaModFix/>
          </a:blip>
          <a:srcRect l="11735" t="20466" r="11819" b="26252"/>
          <a:stretch/>
        </p:blipFill>
        <p:spPr>
          <a:xfrm>
            <a:off x="3462777" y="1438704"/>
            <a:ext cx="865627" cy="60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6">
            <a:alphaModFix/>
          </a:blip>
          <a:srcRect l="9998" t="23716" r="10014" b="28633"/>
          <a:stretch/>
        </p:blipFill>
        <p:spPr>
          <a:xfrm>
            <a:off x="4087612" y="57151"/>
            <a:ext cx="969000" cy="577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/>
          <p:cNvPicPr preferRelativeResize="0"/>
          <p:nvPr/>
        </p:nvPicPr>
        <p:blipFill rotWithShape="1">
          <a:blip r:embed="rId7">
            <a:alphaModFix/>
          </a:blip>
          <a:srcRect l="6368" t="15175" r="6879" b="15597"/>
          <a:stretch/>
        </p:blipFill>
        <p:spPr>
          <a:xfrm>
            <a:off x="1234502" y="2629525"/>
            <a:ext cx="756071" cy="603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/>
          <p:cNvPicPr preferRelativeResize="0"/>
          <p:nvPr/>
        </p:nvPicPr>
        <p:blipFill rotWithShape="1">
          <a:blip r:embed="rId8">
            <a:alphaModFix/>
          </a:blip>
          <a:srcRect t="21087" b="27420"/>
          <a:stretch/>
        </p:blipFill>
        <p:spPr>
          <a:xfrm>
            <a:off x="4119450" y="3978098"/>
            <a:ext cx="905924" cy="466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3815523" y="1987683"/>
            <a:ext cx="1513200" cy="60330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Helvetica Neue"/>
                <a:ea typeface="Helvetica Neue"/>
                <a:cs typeface="Helvetica Neue"/>
                <a:sym typeface="Helvetica Neue"/>
              </a:rPr>
              <a:t>neural activity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179525" y="4653575"/>
            <a:ext cx="8784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Helvetica Neue"/>
                <a:ea typeface="Helvetica Neue"/>
                <a:cs typeface="Helvetica Neue"/>
                <a:sym typeface="Helvetica Neue"/>
              </a:rPr>
              <a:t>Behaviors that produce more tolerable sensory input become dynamically stabilized.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15450" y="200775"/>
            <a:ext cx="2968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Internal adaptation alone can not eliminate continually changing sensory perturbations.</a:t>
            </a:r>
            <a:endParaRPr sz="1300"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5861200" y="200775"/>
            <a:ext cx="2968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Attractive behaviors make the sensory stream regular enough for local neural dynamics to stabilize.</a:t>
            </a:r>
            <a:endParaRPr b="1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84188"/>
            <a:ext cx="8839204" cy="3375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</Words>
  <Application>Microsoft Macintosh PowerPoint</Application>
  <PresentationFormat>On-screen Show (16:9)</PresentationFormat>
  <Paragraphs>43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Helvetica Neue</vt:lpstr>
      <vt:lpstr>Simple Light</vt:lpstr>
      <vt:lpstr>PowerPoint Presentation</vt:lpstr>
      <vt:lpstr>PowerPoint Presentation</vt:lpstr>
      <vt:lpstr>Local learning needs a new first principle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Marc Gong Bacvanski</cp:lastModifiedBy>
  <cp:revision>1</cp:revision>
  <dcterms:modified xsi:type="dcterms:W3CDTF">2026-08-26T03:19:34Z</dcterms:modified>
</cp:coreProperties>
</file>